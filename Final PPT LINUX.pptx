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8" r:id="rId5"/>
    <p:sldId id="26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1" r:id="rId14"/>
    <p:sldId id="272" r:id="rId15"/>
    <p:sldId id="273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102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72" y="1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09728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914400" cy="109728"/>
          </a:xfrm>
          <a:prstGeom prst="rect">
            <a:avLst/>
          </a:prstGeom>
          <a:solidFill>
            <a:srgbClr val="2B9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108960" y="0"/>
            <a:ext cx="457200" cy="109728"/>
          </a:xfrm>
          <a:prstGeom prst="rect">
            <a:avLst/>
          </a:prstGeom>
          <a:solidFill>
            <a:srgbClr val="DC8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6608552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rPr lang="en-US" dirty="0"/>
              <a:t>Integrated </a:t>
            </a:r>
            <a:r>
              <a:rPr dirty="0"/>
              <a:t>Linux Infrastructure</a:t>
            </a:r>
            <a:br>
              <a:rPr dirty="0"/>
            </a:br>
            <a:endParaRPr lang="en-US" dirty="0"/>
          </a:p>
          <a:p>
            <a:pPr>
              <a:defRPr sz="1800">
                <a:solidFill>
                  <a:srgbClr val="CDDCEB"/>
                </a:solidFill>
                <a:latin typeface="Aptos"/>
              </a:defRPr>
            </a:pPr>
            <a:r>
              <a:rPr lang="en-US" dirty="0"/>
              <a:t>Ubuntu • LVM • ACL Security • Backup &amp; Recovery •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3400" y="3794759"/>
            <a:ext cx="5943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B9DB4"/>
                </a:solidFill>
                <a:latin typeface="Aptos"/>
              </a:defRPr>
            </a:pPr>
            <a:r>
              <a:t>Enterprise-style departmental storage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897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ECD"/>
                </a:solidFill>
                <a:latin typeface="Aptos"/>
              </a:defRPr>
            </a:pPr>
            <a:r>
              <a:t>Project Presentation  |  Ubuntu Server in VirtualBox</a:t>
            </a:r>
          </a:p>
        </p:txBody>
      </p:sp>
      <p:sp>
        <p:nvSpPr>
          <p:cNvPr id="9" name="Clean Slide Number"/>
          <p:cNvSpPr txBox="1"/>
          <p:nvPr/>
        </p:nvSpPr>
        <p:spPr>
          <a:xfrm>
            <a:off x="11064240" y="64739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5E6E87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4"/>
                </a:solidFill>
                <a:latin typeface="Aptos Display"/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  <a:latin typeface="Aptos"/>
              </a:defRPr>
            </a:pPr>
            <a:r>
              <a:t>What was implemented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82880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78250"/>
            <a:ext cx="2657138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Ubuntu Server deployed inside</a:t>
            </a:r>
            <a:endParaRPr lang="en-US" dirty="0"/>
          </a:p>
          <a:p>
            <a:pPr algn="just"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 VirtualBox with an additional 15 GB </a:t>
            </a:r>
            <a:endParaRPr lang="en-US" dirty="0"/>
          </a:p>
          <a:p>
            <a:pPr algn="just"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storage disk.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417320"/>
            <a:ext cx="64008" cy="1828800"/>
          </a:xfrm>
          <a:prstGeom prst="rect">
            <a:avLst/>
          </a:prstGeom>
          <a:solidFill>
            <a:srgbClr val="2B9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819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298254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LVM-based departmental storage for HR,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 IT and Finance using ext4 filesystems.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417320"/>
            <a:ext cx="64008" cy="18288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5819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Protection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011680"/>
            <a:ext cx="2712666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ACL-based access control plus full,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 incremental and automated backup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workflows.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947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Designed a structured storage layout instead of relying on a single filesystem.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Separated departmental data to support controlled access and independent capacity management.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Demonstrated recovery and later expanded the HR logical volume by 1 GB.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lean Slide Number"/>
          <p:cNvSpPr txBox="1"/>
          <p:nvPr/>
        </p:nvSpPr>
        <p:spPr>
          <a:xfrm>
            <a:off x="11064240" y="64739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5E6E87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1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881360" cy="452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rPr dirty="0"/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789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CFDCF6"/>
                </a:solidFill>
                <a:latin typeface="Aptos"/>
              </a:defRPr>
            </a:pPr>
            <a:r>
              <a:t>Why a structured departmental Linux infrastructure was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5349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64008" cy="1417320"/>
          </a:xfrm>
          <a:prstGeom prst="rect">
            <a:avLst/>
          </a:prstGeom>
          <a:solidFill>
            <a:srgbClr val="23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655063"/>
            <a:ext cx="5001768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112042"/>
                </a:solidFill>
                <a:latin typeface="Aptos"/>
              </a:defRPr>
            </a:pPr>
            <a:r>
              <a:t>Storage was difficult to manage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75688"/>
            <a:ext cx="4965192" cy="7589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0">
                <a:solidFill>
                  <a:srgbClr val="1E2B41"/>
                </a:solidFill>
                <a:latin typeface="Aptos"/>
              </a:defRPr>
            </a:pPr>
            <a:r>
              <a:t>A single shared storage area makes departmental capacity harder to allocate, monitor and expand.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349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64008" cy="1417320"/>
          </a:xfrm>
          <a:prstGeom prst="rect">
            <a:avLst/>
          </a:prstGeom>
          <a:solidFill>
            <a:srgbClr val="1E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655063"/>
            <a:ext cx="5001768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112042"/>
                </a:solidFill>
                <a:latin typeface="Aptos"/>
              </a:defRPr>
            </a:pPr>
            <a:r>
              <a:t>Departmental data needed 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75688"/>
            <a:ext cx="4965192" cy="7589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0">
                <a:solidFill>
                  <a:srgbClr val="1E2B41"/>
                </a:solidFill>
                <a:latin typeface="Aptos"/>
              </a:defRPr>
            </a:pPr>
            <a:r>
              <a:t>HR, IT and Finance require separate mount points and controlled access to reduce accidental or unauthorized access.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46120"/>
            <a:ext cx="5349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3246120"/>
            <a:ext cx="64008" cy="1417320"/>
          </a:xfrm>
          <a:prstGeom prst="rect">
            <a:avLst/>
          </a:prstGeom>
          <a:solidFill>
            <a:srgbClr val="D08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3392424"/>
            <a:ext cx="5001768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112042"/>
                </a:solidFill>
                <a:latin typeface="Aptos"/>
              </a:defRPr>
            </a:pPr>
            <a:r>
              <a:t>Data loss and recovery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3813048"/>
            <a:ext cx="4965192" cy="7589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0">
                <a:solidFill>
                  <a:srgbClr val="1E2B41"/>
                </a:solidFill>
                <a:latin typeface="Aptos"/>
              </a:defRPr>
            </a:pPr>
            <a:r>
              <a:t>Without tested backups, deleted or changed files may be difficult to restore reliably.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246120"/>
            <a:ext cx="5349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246120"/>
            <a:ext cx="64008" cy="1417320"/>
          </a:xfrm>
          <a:prstGeom prst="rect">
            <a:avLst/>
          </a:prstGeom>
          <a:solidFill>
            <a:srgbClr val="7B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3392424"/>
            <a:ext cx="5001768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112042"/>
                </a:solidFill>
                <a:latin typeface="Aptos"/>
              </a:defRPr>
            </a:pPr>
            <a:r>
              <a:t>Manual operations are repetitive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813048"/>
            <a:ext cx="4965192" cy="7589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0">
                <a:solidFill>
                  <a:srgbClr val="1E2B41"/>
                </a:solidFill>
                <a:latin typeface="Aptos"/>
              </a:defRPr>
            </a:pPr>
            <a:r>
              <a:t>Repeated backup tasks can be inconsistent when they are not standardized or automated.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74920"/>
            <a:ext cx="1069848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800" b="1">
                <a:solidFill>
                  <a:srgbClr val="112042"/>
                </a:solidFill>
                <a:latin typeface="Aptos"/>
              </a:defRPr>
            </a:pPr>
            <a:r>
              <a:t>Project challenge: build a manageable, access-controlled and recoverable storage environment on Ubuntu Server.</a:t>
            </a:r>
          </a:p>
        </p:txBody>
      </p:sp>
      <p:sp>
        <p:nvSpPr>
          <p:cNvPr id="24" name="Clean Slide Number"/>
          <p:cNvSpPr txBox="1"/>
          <p:nvPr/>
        </p:nvSpPr>
        <p:spPr>
          <a:xfrm>
            <a:off x="11064240" y="64739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5E6E87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0487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4"/>
                </a:solidFill>
                <a:latin typeface="Aptos Display"/>
              </a:defRPr>
            </a:pPr>
            <a:r>
              <a:rPr lang="en-IN" dirty="0"/>
              <a:t>3</a:t>
            </a:r>
            <a:r>
              <a:rPr dirty="0"/>
              <a:t>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  <a:latin typeface="Aptos"/>
              </a:defRPr>
            </a:pPr>
            <a:r>
              <a:t>Infrastructure goals achieved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64008" cy="132588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490472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01  Provision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20240"/>
            <a:ext cx="4690872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Partition the additional disk and build the LVM hierarchy.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32588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59" y="1325880"/>
            <a:ext cx="64008" cy="1325880"/>
          </a:xfrm>
          <a:prstGeom prst="rect">
            <a:avLst/>
          </a:prstGeom>
          <a:solidFill>
            <a:srgbClr val="2B9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7" y="1490472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02  Department separation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7" y="1920240"/>
            <a:ext cx="4690872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Create dedicated HR, IT and Finance logical volumes.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926080"/>
            <a:ext cx="64008" cy="132588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090672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03  Secure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520440"/>
            <a:ext cx="4690872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Apply ACLs and verify authorized departmental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92608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59" y="2926080"/>
            <a:ext cx="64008" cy="1325880"/>
          </a:xfrm>
          <a:prstGeom prst="rect">
            <a:avLst/>
          </a:prstGeom>
          <a:solidFill>
            <a:srgbClr val="DC8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7" y="3090672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04  Protect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7" y="3520440"/>
            <a:ext cx="4690872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Create backups, restore data and validate recovery.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2628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526280"/>
            <a:ext cx="64008" cy="132588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690872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05  Automate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120640"/>
            <a:ext cx="4690872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Use a Bash backup script for repeatable backup operations.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452628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59" y="4526280"/>
            <a:ext cx="64008" cy="1325880"/>
          </a:xfrm>
          <a:prstGeom prst="rect">
            <a:avLst/>
          </a:prstGeom>
          <a:solidFill>
            <a:srgbClr val="2B9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7" y="4690872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06 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7" y="5120640"/>
            <a:ext cx="4690872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Demonstrate online capacity expansion for HR.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lean Slide Number"/>
          <p:cNvSpPr txBox="1"/>
          <p:nvPr/>
        </p:nvSpPr>
        <p:spPr>
          <a:xfrm>
            <a:off x="11064240" y="64739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5E6E87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1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881360" cy="452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4</a:t>
            </a:r>
            <a:r>
              <a:rPr dirty="0"/>
              <a:t>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789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CFDCF6"/>
                </a:solidFill>
                <a:latin typeface="Aptos"/>
              </a:defRPr>
            </a:pPr>
            <a:r>
              <a:t>How the project addresses the identified problems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566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64008" cy="1325880"/>
          </a:xfrm>
          <a:prstGeom prst="rect">
            <a:avLst/>
          </a:prstGeom>
          <a:solidFill>
            <a:srgbClr val="23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563624"/>
            <a:ext cx="3218688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112042"/>
                </a:solidFill>
                <a:latin typeface="Aptos"/>
              </a:defRPr>
            </a:pPr>
            <a:r>
              <a:t>1  Flexible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84248"/>
            <a:ext cx="3182112" cy="6675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0">
                <a:solidFill>
                  <a:srgbClr val="1E2B41"/>
                </a:solidFill>
                <a:latin typeface="Aptos"/>
              </a:defRPr>
            </a:pPr>
            <a:r>
              <a:t>Use LVM on the additional disk to create separate logical volumes for HR, IT and Finance.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417320"/>
            <a:ext cx="3566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1417320"/>
            <a:ext cx="64008" cy="1325880"/>
          </a:xfrm>
          <a:prstGeom prst="rect">
            <a:avLst/>
          </a:prstGeom>
          <a:solidFill>
            <a:srgbClr val="1E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17136" y="1563624"/>
            <a:ext cx="3218688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112042"/>
                </a:solidFill>
                <a:latin typeface="Aptos"/>
              </a:defRPr>
            </a:pPr>
            <a:r>
              <a:t>2  Access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1984248"/>
            <a:ext cx="3182112" cy="6675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0">
                <a:solidFill>
                  <a:srgbClr val="1E2B41"/>
                </a:solidFill>
                <a:latin typeface="Aptos"/>
              </a:defRPr>
            </a:pPr>
            <a:r>
              <a:t>Use filesystem permissions and ACLs to grant department-specific access and verify it with getfacl.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417320"/>
            <a:ext cx="3566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37575" y="1417320"/>
            <a:ext cx="64008" cy="1325880"/>
          </a:xfrm>
          <a:prstGeom prst="rect">
            <a:avLst/>
          </a:prstGeom>
          <a:solidFill>
            <a:srgbClr val="D08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1563624"/>
            <a:ext cx="3218688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112042"/>
                </a:solidFill>
                <a:latin typeface="Aptos"/>
              </a:defRPr>
            </a:pPr>
            <a:r>
              <a:t>3  Backup &amp;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1984248"/>
            <a:ext cx="3182112" cy="6675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0">
                <a:solidFill>
                  <a:srgbClr val="1E2B41"/>
                </a:solidFill>
                <a:latin typeface="Aptos"/>
              </a:defRPr>
            </a:pPr>
            <a:r>
              <a:t>Create full and incremental archives, then test recovery by restoring a deleted test file.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50592" y="3154680"/>
            <a:ext cx="3566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50592" y="3154680"/>
            <a:ext cx="64008" cy="1325880"/>
          </a:xfrm>
          <a:prstGeom prst="rect">
            <a:avLst/>
          </a:prstGeom>
          <a:solidFill>
            <a:srgbClr val="7B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51760" y="3300984"/>
            <a:ext cx="3218688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112042"/>
                </a:solidFill>
                <a:latin typeface="Aptos"/>
              </a:defRPr>
            </a:pPr>
            <a:r>
              <a:t>4 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721608"/>
            <a:ext cx="3182112" cy="6675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0">
                <a:solidFill>
                  <a:srgbClr val="1E2B41"/>
                </a:solidFill>
                <a:latin typeface="Aptos"/>
              </a:defRPr>
            </a:pPr>
            <a:r>
              <a:t>Use a Bash script to generate timestamped compressed backup archives.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154680"/>
            <a:ext cx="3566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3154680"/>
            <a:ext cx="64008" cy="1325880"/>
          </a:xfrm>
          <a:prstGeom prst="rect">
            <a:avLst/>
          </a:prstGeom>
          <a:solidFill>
            <a:srgbClr val="23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73368" y="3300984"/>
            <a:ext cx="3218688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112042"/>
                </a:solidFill>
                <a:latin typeface="Aptos"/>
              </a:defRPr>
            </a:pPr>
            <a:r>
              <a:t>5  Scalability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3721608"/>
            <a:ext cx="3182112" cy="6675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0">
                <a:solidFill>
                  <a:srgbClr val="1E2B41"/>
                </a:solidFill>
                <a:latin typeface="Aptos"/>
              </a:defRPr>
            </a:pPr>
            <a:r>
              <a:t>Extend the HR logical volume by 1 GB and validate the resulting storage layout.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700" b="1">
                <a:solidFill>
                  <a:srgbClr val="112042"/>
                </a:solidFill>
                <a:latin typeface="Aptos"/>
              </a:defRPr>
            </a:pPr>
            <a:r>
              <a:t>Outcome: departmental storage with clearer separation, controlled access, backup evidence and room to grow.</a:t>
            </a:r>
          </a:p>
        </p:txBody>
      </p:sp>
      <p:sp>
        <p:nvSpPr>
          <p:cNvPr id="28" name="Clean Slide Number"/>
          <p:cNvSpPr txBox="1"/>
          <p:nvPr/>
        </p:nvSpPr>
        <p:spPr>
          <a:xfrm>
            <a:off x="11064240" y="64739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5E6E87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354981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4"/>
                </a:solidFill>
                <a:latin typeface="Aptos Display"/>
              </a:defRPr>
            </a:pPr>
            <a:r>
              <a:rPr lang="en-IN" dirty="0"/>
              <a:t>5</a:t>
            </a:r>
            <a:r>
              <a:rPr dirty="0"/>
              <a:t>. Storage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  <a:latin typeface="Aptos"/>
              </a:defRPr>
            </a:pPr>
            <a:r>
              <a:t>From physical disk to departmental mount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0116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6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965960"/>
            <a:ext cx="179222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1F34"/>
                </a:solidFill>
                <a:latin typeface="Aptos"/>
              </a:defRPr>
            </a:pPr>
            <a:r>
              <a:t>15 GB Disk</a:t>
            </a:r>
          </a:p>
          <a:p>
            <a:pPr algn="ctr">
              <a:defRPr sz="1000">
                <a:solidFill>
                  <a:srgbClr val="5F6E7D"/>
                </a:solidFill>
                <a:latin typeface="Aptos"/>
              </a:defRPr>
            </a:pPr>
            <a:r>
              <a:t> /dev/sdb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828800"/>
            <a:ext cx="20116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6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72968" y="1965960"/>
            <a:ext cx="179222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1F34"/>
                </a:solidFill>
                <a:latin typeface="Aptos"/>
              </a:defRPr>
            </a:pPr>
            <a:r>
              <a:t>Partition</a:t>
            </a:r>
          </a:p>
          <a:p>
            <a:pPr algn="ctr">
              <a:defRPr sz="1000">
                <a:solidFill>
                  <a:srgbClr val="5F6E7D"/>
                </a:solidFill>
                <a:latin typeface="Aptos"/>
              </a:defRPr>
            </a:pPr>
            <a:r>
              <a:t>/dev/sdb1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828800"/>
            <a:ext cx="20116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6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96128" y="1965960"/>
            <a:ext cx="179222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1F34"/>
                </a:solidFill>
                <a:latin typeface="Aptos"/>
              </a:defRPr>
            </a:pPr>
            <a:r>
              <a:t>Volume Group</a:t>
            </a:r>
          </a:p>
          <a:p>
            <a:pPr algn="ctr">
              <a:defRPr sz="1000">
                <a:solidFill>
                  <a:srgbClr val="5F6E7D"/>
                </a:solidFill>
                <a:latin typeface="Aptos"/>
              </a:defRPr>
            </a:pPr>
            <a:r>
              <a:t>enterprise_vg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23444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9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19288" y="1371600"/>
            <a:ext cx="151790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1F34"/>
                </a:solidFill>
                <a:latin typeface="Aptos"/>
              </a:defRPr>
            </a:pPr>
            <a:r>
              <a:t>HR LV</a:t>
            </a:r>
          </a:p>
          <a:p>
            <a:pPr algn="ctr">
              <a:defRPr sz="1000">
                <a:solidFill>
                  <a:srgbClr val="5F6E7D"/>
                </a:solidFill>
                <a:latin typeface="Aptos"/>
              </a:defRPr>
            </a:pPr>
            <a:r>
              <a:t>hr_lv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242316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9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9288" y="2560320"/>
            <a:ext cx="151790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1F34"/>
                </a:solidFill>
                <a:latin typeface="Aptos"/>
              </a:defRPr>
            </a:pPr>
            <a:r>
              <a:t>IT LV</a:t>
            </a:r>
          </a:p>
          <a:p>
            <a:pPr algn="ctr">
              <a:defRPr sz="1000">
                <a:solidFill>
                  <a:srgbClr val="5F6E7D"/>
                </a:solidFill>
                <a:latin typeface="Aptos"/>
              </a:defRPr>
            </a:pPr>
            <a:r>
              <a:t>it_lv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61188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9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19288" y="3749040"/>
            <a:ext cx="151790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1F34"/>
                </a:solidFill>
                <a:latin typeface="Aptos"/>
              </a:defRPr>
            </a:pPr>
            <a:r>
              <a:t>Finance LV</a:t>
            </a:r>
          </a:p>
          <a:p>
            <a:pPr algn="ctr">
              <a:defRPr sz="1000">
                <a:solidFill>
                  <a:srgbClr val="5F6E7D"/>
                </a:solidFill>
                <a:latin typeface="Aptos"/>
              </a:defRPr>
            </a:pPr>
            <a:r>
              <a:t>finance_lv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51760" y="2286000"/>
            <a:ext cx="411480" cy="0"/>
          </a:xfrm>
          <a:prstGeom prst="line">
            <a:avLst/>
          </a:prstGeom>
          <a:ln w="2540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74920" y="2286000"/>
            <a:ext cx="411480" cy="0"/>
          </a:xfrm>
          <a:prstGeom prst="line">
            <a:avLst/>
          </a:prstGeom>
          <a:ln w="2540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98079" y="1691640"/>
            <a:ext cx="411481" cy="594360"/>
          </a:xfrm>
          <a:prstGeom prst="line">
            <a:avLst/>
          </a:prstGeom>
          <a:ln w="2540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98079" y="2286000"/>
            <a:ext cx="411481" cy="594360"/>
          </a:xfrm>
          <a:prstGeom prst="line">
            <a:avLst/>
          </a:prstGeom>
          <a:ln w="2540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98079" y="2286000"/>
            <a:ext cx="411481" cy="1783080"/>
          </a:xfrm>
          <a:prstGeom prst="line">
            <a:avLst/>
          </a:prstGeom>
          <a:ln w="2540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921240" y="123444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921240" y="1234440"/>
            <a:ext cx="64008" cy="9144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22408" y="1399032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/enterprise/hr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22408" y="1828800"/>
            <a:ext cx="12618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ext4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1240" y="242316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921240" y="2423160"/>
            <a:ext cx="64008" cy="9144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22408" y="2587752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/enterprise/it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22408" y="3017520"/>
            <a:ext cx="12618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ext4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21240" y="361188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921240" y="3611880"/>
            <a:ext cx="64008" cy="9144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93147" y="3703761"/>
            <a:ext cx="14447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rPr dirty="0"/>
              <a:t>/enterprise</a:t>
            </a:r>
            <a:endParaRPr lang="en-US" dirty="0"/>
          </a:p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rPr dirty="0"/>
              <a:t>/finance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22408" y="4206240"/>
            <a:ext cx="12618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ext4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Clean Slide Number"/>
          <p:cNvSpPr txBox="1"/>
          <p:nvPr/>
        </p:nvSpPr>
        <p:spPr>
          <a:xfrm>
            <a:off x="11064240" y="64739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5E6E87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358559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4"/>
                </a:solidFill>
                <a:latin typeface="Aptos Display"/>
              </a:defRPr>
            </a:pPr>
            <a:r>
              <a:rPr lang="en-IN" dirty="0"/>
              <a:t>6</a:t>
            </a:r>
            <a:r>
              <a:rPr dirty="0"/>
              <a:t>. LVM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  <a:latin typeface="Aptos"/>
              </a:defRPr>
            </a:pPr>
            <a:r>
              <a:t>Logical storage with independent departmental 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Physical Volume (PV): /dev/sdb1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Volume Group (VG): enterprise_vg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Logical Volumes: hr_lv, it_lv, finance_lv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Filesystems: ext4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Mount points: /enterprise/hr, /enterprise/it, /enterprise/finance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HR logical volume was later extended by 1 GB using LVM online resize.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417320"/>
            <a:ext cx="3566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35240" y="1417320"/>
            <a:ext cx="64008" cy="114300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36408" y="1581912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Why LVM?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1863474"/>
            <a:ext cx="2645211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Flexible allocation,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easier resizing and cleaner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separation of departmental storage.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788920"/>
            <a:ext cx="3566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35240" y="2788920"/>
            <a:ext cx="64008" cy="1143000"/>
          </a:xfrm>
          <a:prstGeom prst="rect">
            <a:avLst/>
          </a:prstGeom>
          <a:solidFill>
            <a:srgbClr val="2B9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36408" y="2953512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Filesystem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3245337"/>
            <a:ext cx="249491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ext4 provides the filesystem layer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on each logical volume.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160520"/>
            <a:ext cx="3566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4160520"/>
            <a:ext cx="64008" cy="11430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36408" y="4325112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4627314"/>
            <a:ext cx="237161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LVM and mounted storage were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checked using </a:t>
            </a:r>
            <a:r>
              <a:rPr dirty="0" err="1"/>
              <a:t>lvs</a:t>
            </a:r>
            <a:r>
              <a:rPr dirty="0"/>
              <a:t> and </a:t>
            </a:r>
            <a:r>
              <a:rPr dirty="0" err="1"/>
              <a:t>df</a:t>
            </a:r>
            <a:r>
              <a:rPr dirty="0"/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lean Slide Number"/>
          <p:cNvSpPr txBox="1"/>
          <p:nvPr/>
        </p:nvSpPr>
        <p:spPr>
          <a:xfrm>
            <a:off x="11064240" y="64739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5E6E87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33965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4"/>
                </a:solidFill>
                <a:latin typeface="Aptos Display"/>
              </a:defRPr>
            </a:pPr>
            <a:r>
              <a:rPr lang="en-IN" dirty="0"/>
              <a:t>7</a:t>
            </a:r>
            <a:r>
              <a:rPr dirty="0"/>
              <a:t>. Access Control with ACLs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  <a:latin typeface="Aptos"/>
              </a:defRPr>
            </a:pPr>
            <a:r>
              <a:t>Departmental authorization and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182880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3619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65960"/>
            <a:ext cx="2575000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HR users receive access to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 /enterprise/</a:t>
            </a:r>
            <a:r>
              <a:rPr dirty="0" err="1"/>
              <a:t>hr</a:t>
            </a:r>
            <a:r>
              <a:rPr dirty="0"/>
              <a:t> while other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 departmental access is restricted.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64008" cy="1828800"/>
          </a:xfrm>
          <a:prstGeom prst="rect">
            <a:avLst/>
          </a:prstGeom>
          <a:solidFill>
            <a:srgbClr val="2B9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53619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65960"/>
            <a:ext cx="2352824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IT storage is separated from HR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and Finance using the same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ACL-based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371600"/>
            <a:ext cx="64008" cy="18288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53619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Finance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65960"/>
            <a:ext cx="276441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Finance storage remains a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distinct protected departmental area.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ACLs were backed up to /enterprise/acl_backup/department_acls.txt.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ACL restoration was tested successfully.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Authorized HR access was verified by creating a test file as hruser.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The restored test file was removed after validation.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lean Slide Number"/>
          <p:cNvSpPr txBox="1"/>
          <p:nvPr/>
        </p:nvSpPr>
        <p:spPr>
          <a:xfrm>
            <a:off x="11064240" y="64739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5E6E87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4"/>
                </a:solidFill>
                <a:latin typeface="Aptos Display"/>
              </a:defRPr>
            </a:pPr>
            <a:r>
              <a:t>6. Backup &amp;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  <a:latin typeface="Aptos"/>
              </a:defRPr>
            </a:pPr>
            <a:r>
              <a:t>Multiple recovery layers were demonstrated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514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219456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148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FULL BACKUP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11680"/>
            <a:ext cx="221265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Created a compressed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archive of HR, IT and Finance.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17320"/>
            <a:ext cx="2514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0440" y="1417320"/>
            <a:ext cx="64008" cy="2194560"/>
          </a:xfrm>
          <a:prstGeom prst="rect">
            <a:avLst/>
          </a:prstGeom>
          <a:solidFill>
            <a:srgbClr val="2B9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1581912"/>
            <a:ext cx="2148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INCREMENTAL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011680"/>
            <a:ext cx="235660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Captured a test change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separately from the full backup.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2514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64008" cy="219456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1581912"/>
            <a:ext cx="2148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011680"/>
            <a:ext cx="2424190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Deleted the test file and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 restored it from the incremental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archive.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417320"/>
            <a:ext cx="2514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89720" y="1417320"/>
            <a:ext cx="64008" cy="2194560"/>
          </a:xfrm>
          <a:prstGeom prst="rect">
            <a:avLst/>
          </a:prstGeom>
          <a:solidFill>
            <a:srgbClr val="DC8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90888" y="1581912"/>
            <a:ext cx="2148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2011680"/>
            <a:ext cx="1932196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Bash script generates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 timestamped automated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 backups.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160520"/>
            <a:ext cx="4800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88720" y="4160520"/>
            <a:ext cx="64008" cy="123444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89888" y="4325112"/>
            <a:ext cx="4434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Backup locations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4754880"/>
            <a:ext cx="4416552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/enterprise/backups/full</a:t>
            </a:r>
            <a:br/>
            <a:r>
              <a:t>/enterprise/backups/incremental</a:t>
            </a:r>
            <a:br/>
            <a:r>
              <a:t>/enterprise/backups/automated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160520"/>
            <a:ext cx="4800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4160520"/>
            <a:ext cx="64008" cy="123444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19088" y="4325112"/>
            <a:ext cx="4434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Recovery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754880"/>
            <a:ext cx="4416552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The deleted incremental test file was restored successfully and verified.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lean Slide Number"/>
          <p:cNvSpPr txBox="1"/>
          <p:nvPr/>
        </p:nvSpPr>
        <p:spPr>
          <a:xfrm>
            <a:off x="11064240" y="64739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5E6E87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342138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4"/>
                </a:solidFill>
                <a:latin typeface="Aptos Display"/>
              </a:defRPr>
            </a:pPr>
            <a:r>
              <a:rPr lang="en-IN" dirty="0"/>
              <a:t>8</a:t>
            </a:r>
            <a:r>
              <a:rPr dirty="0"/>
              <a:t>. Backup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  <a:latin typeface="Aptos"/>
              </a:defRPr>
            </a:pPr>
            <a:r>
              <a:t>Repeatable Bash-based operational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766560" cy="4297680"/>
          </a:xfrm>
          <a:prstGeom prst="roundRect">
            <a:avLst/>
          </a:prstGeom>
          <a:solidFill>
            <a:srgbClr val="141F34"/>
          </a:solidFill>
          <a:ln>
            <a:solidFill>
              <a:srgbClr val="37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6217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#!/bin/bash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BACKUP_DIR="/enterprise/backups/automated"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DATE=$(date +%Y%m%d_%H%M%S)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mkdir -p "$BACKUP_DIR"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tar -czf "$BACKUP_DIR/enterprise_backup_$DATE.tar.gz" ...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echo "Backup completed: ..."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50876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909560" y="1508760"/>
            <a:ext cx="64008" cy="123444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8" y="1673351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8" y="2103120"/>
            <a:ext cx="2862072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/enterprise/scripts/backup.sh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9718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09560" y="2971800"/>
            <a:ext cx="64008" cy="123444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8" y="3136392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3566160"/>
            <a:ext cx="258468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Timestamped .tar.gz archives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in the automated backup directory.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443484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09560" y="4434840"/>
            <a:ext cx="64008" cy="1234440"/>
          </a:xfrm>
          <a:prstGeom prst="rect">
            <a:avLst/>
          </a:prstGeom>
          <a:solidFill>
            <a:srgbClr val="2B9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0728" y="4599431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5029200"/>
            <a:ext cx="217162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Script execution and backup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directory listing were tested.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lean Slide Number"/>
          <p:cNvSpPr txBox="1"/>
          <p:nvPr/>
        </p:nvSpPr>
        <p:spPr>
          <a:xfrm>
            <a:off x="11064240" y="64739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5E6E87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343876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4"/>
                </a:solidFill>
                <a:latin typeface="Aptos Display"/>
              </a:defRPr>
            </a:pPr>
            <a:r>
              <a:rPr lang="en-IN" dirty="0"/>
              <a:t>9</a:t>
            </a:r>
            <a:r>
              <a:rPr dirty="0"/>
              <a:t>. Capacity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  <a:latin typeface="Aptos"/>
              </a:defRPr>
            </a:pPr>
            <a:r>
              <a:t>Demonstrating LVM scalability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64008" cy="205740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581912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2931059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HR logical volume had its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original allocation and the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volume group still contained free space.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64008" cy="2057400"/>
          </a:xfrm>
          <a:prstGeom prst="rect">
            <a:avLst/>
          </a:prstGeom>
          <a:solidFill>
            <a:srgbClr val="DC8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581912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011680"/>
            <a:ext cx="294381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HR was extended by +1 GB using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 </a:t>
            </a:r>
            <a:r>
              <a:rPr dirty="0" err="1"/>
              <a:t>lvextend</a:t>
            </a:r>
            <a:r>
              <a:rPr dirty="0"/>
              <a:t> with filesystem resize enabled.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64008" cy="20574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1581912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011680"/>
            <a:ext cx="312258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LVM/storage validation was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performed to confirm the expanded layout.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69080" y="2423160"/>
            <a:ext cx="365760" cy="0"/>
          </a:xfrm>
          <a:prstGeom prst="line">
            <a:avLst/>
          </a:prstGeom>
          <a:ln w="38100">
            <a:solidFill>
              <a:srgbClr val="265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2423160"/>
            <a:ext cx="365760" cy="0"/>
          </a:xfrm>
          <a:prstGeom prst="line">
            <a:avLst/>
          </a:prstGeom>
          <a:ln w="38100">
            <a:solidFill>
              <a:srgbClr val="265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41605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Key benefit: capacity can be increased without rebuilding the department filesystem from scratch.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This demonstrates practical storage administration rather than only initial provisioning.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lean Slide Number"/>
          <p:cNvSpPr txBox="1"/>
          <p:nvPr/>
        </p:nvSpPr>
        <p:spPr>
          <a:xfrm>
            <a:off x="11064240" y="64739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5E6E87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389805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4"/>
                </a:solidFill>
                <a:latin typeface="Aptos Display"/>
              </a:defRPr>
            </a:pPr>
            <a:r>
              <a:rPr lang="en-IN" dirty="0"/>
              <a:t>10</a:t>
            </a:r>
            <a:r>
              <a:rPr dirty="0"/>
              <a:t>. Validation &amp;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  <a:latin typeface="Aptos"/>
              </a:defRPr>
            </a:pPr>
            <a:r>
              <a:t>Checks used to confirm the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44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64008" cy="749808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399032"/>
            <a:ext cx="10378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LVM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5924" y="1671484"/>
            <a:ext cx="1036015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lvs</a:t>
            </a:r>
            <a:r>
              <a:rPr dirty="0"/>
              <a:t>    —    Logical volumes and sizing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67128"/>
            <a:ext cx="10744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167128"/>
            <a:ext cx="64008" cy="749808"/>
          </a:xfrm>
          <a:prstGeom prst="rect">
            <a:avLst/>
          </a:prstGeom>
          <a:solidFill>
            <a:srgbClr val="2B9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10378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Mounts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5924" y="2604172"/>
            <a:ext cx="1036015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 err="1"/>
              <a:t>df</a:t>
            </a:r>
            <a:r>
              <a:rPr dirty="0"/>
              <a:t> -h | grep /enterprise    —    Department filesystems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99816"/>
            <a:ext cx="10744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731520" y="3099816"/>
            <a:ext cx="64008" cy="749808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264408"/>
            <a:ext cx="10378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ACL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924" y="3611880"/>
            <a:ext cx="1036015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 err="1"/>
              <a:t>getfacl</a:t>
            </a:r>
            <a:r>
              <a:rPr dirty="0"/>
              <a:t> /enterprise/</a:t>
            </a:r>
            <a:r>
              <a:rPr dirty="0" err="1"/>
              <a:t>hr</a:t>
            </a:r>
            <a:r>
              <a:rPr dirty="0"/>
              <a:t>    —    </a:t>
            </a:r>
            <a:r>
              <a:rPr dirty="0" err="1"/>
              <a:t>hruser</a:t>
            </a:r>
            <a:r>
              <a:rPr dirty="0"/>
              <a:t> permission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32504"/>
            <a:ext cx="10744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032504"/>
            <a:ext cx="64008" cy="749808"/>
          </a:xfrm>
          <a:prstGeom prst="rect">
            <a:avLst/>
          </a:prstGeom>
          <a:solidFill>
            <a:srgbClr val="DC8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4197096"/>
            <a:ext cx="10378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Backups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540438"/>
            <a:ext cx="1036015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ls -</a:t>
            </a:r>
            <a:r>
              <a:rPr dirty="0" err="1"/>
              <a:t>lh</a:t>
            </a:r>
            <a:r>
              <a:rPr dirty="0"/>
              <a:t> /enterprise/backups/...    —    Backup artifacts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65192"/>
            <a:ext cx="10744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965192"/>
            <a:ext cx="64008" cy="749808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5129783"/>
            <a:ext cx="10378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924" y="5477255"/>
            <a:ext cx="1036015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ls -l /enterprise/scripts/backup.sh    —    Executable script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lean Slide Number"/>
          <p:cNvSpPr txBox="1"/>
          <p:nvPr/>
        </p:nvSpPr>
        <p:spPr>
          <a:xfrm>
            <a:off x="11064240" y="64739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5E6E87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1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881360" cy="452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11</a:t>
            </a:r>
            <a:r>
              <a:rPr dirty="0"/>
              <a:t>. Evidence — Storage, ACL &amp; Backup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789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CFDCF6"/>
                </a:solidFill>
                <a:latin typeface="Aptos"/>
              </a:defRPr>
            </a:pPr>
            <a:r>
              <a:t>Terminal validation captured from the Ubuntu project environment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78785" y="1280160"/>
            <a:ext cx="6849668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DA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505" y="1325880"/>
            <a:ext cx="6758228" cy="45262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Box 8"/>
          <p:cNvSpPr txBox="1"/>
          <p:nvPr/>
        </p:nvSpPr>
        <p:spPr>
          <a:xfrm>
            <a:off x="685800" y="5925312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1E2B41"/>
                </a:solidFill>
                <a:latin typeface="Aptos"/>
              </a:defRPr>
            </a:pPr>
            <a:r>
              <a:t>Visible evidence: LVM logical volumes, mounted departmental filesystems, HR ACL output, backup archives and executable backup script.</a:t>
            </a:r>
          </a:p>
        </p:txBody>
      </p:sp>
      <p:sp>
        <p:nvSpPr>
          <p:cNvPr id="10" name="Clean Slide Number"/>
          <p:cNvSpPr txBox="1"/>
          <p:nvPr/>
        </p:nvSpPr>
        <p:spPr>
          <a:xfrm>
            <a:off x="11064240" y="64739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5E6E87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1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881360" cy="452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12</a:t>
            </a:r>
            <a:r>
              <a:rPr dirty="0"/>
              <a:t>. Evidence — Infrastructure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789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CFDCF6"/>
                </a:solidFill>
                <a:latin typeface="Aptos"/>
              </a:defRPr>
            </a:pPr>
            <a:r>
              <a:t>Ubuntu server dashboard showing departmental storage and backup locations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6876" y="1280160"/>
            <a:ext cx="7333488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DA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irtualBox_Linux-Infrastructure-Server_14_10_2026_22_10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596" y="1325880"/>
            <a:ext cx="7242048" cy="45262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Box 8"/>
          <p:cNvSpPr txBox="1"/>
          <p:nvPr/>
        </p:nvSpPr>
        <p:spPr>
          <a:xfrm>
            <a:off x="685800" y="5925312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1E2B41"/>
                </a:solidFill>
                <a:latin typeface="Aptos"/>
              </a:defRPr>
            </a:pPr>
            <a:r>
              <a:t>Visible evidence: system overview, HR/IT/Finance mount points, backup directory and ACL backup directory.</a:t>
            </a:r>
          </a:p>
        </p:txBody>
      </p:sp>
      <p:sp>
        <p:nvSpPr>
          <p:cNvPr id="10" name="Clean Slide Number"/>
          <p:cNvSpPr txBox="1"/>
          <p:nvPr/>
        </p:nvSpPr>
        <p:spPr>
          <a:xfrm>
            <a:off x="11064240" y="64739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5E6E87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1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881360" cy="452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13</a:t>
            </a:r>
            <a:r>
              <a:rPr dirty="0"/>
              <a:t>. Evidence — Backup History &amp; Department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789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CFDCF6"/>
                </a:solidFill>
                <a:latin typeface="Aptos"/>
              </a:defRPr>
            </a:pPr>
            <a:r>
              <a:t>Dashboard details for backup folders and department ACL configuration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6876" y="1280160"/>
            <a:ext cx="7333488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DA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irtualBox_Linux-Infrastructure-Server_14_10_2026_22_10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671" y="1338169"/>
            <a:ext cx="7247898" cy="44825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Box 8"/>
          <p:cNvSpPr txBox="1"/>
          <p:nvPr/>
        </p:nvSpPr>
        <p:spPr>
          <a:xfrm>
            <a:off x="685800" y="5925312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1E2B41"/>
                </a:solidFill>
                <a:latin typeface="Aptos"/>
              </a:defRPr>
            </a:pPr>
            <a:r>
              <a:t>Visible evidence: full, incremental and automated backup history plus HR, IT and Finance ACL information.</a:t>
            </a:r>
          </a:p>
        </p:txBody>
      </p:sp>
      <p:sp>
        <p:nvSpPr>
          <p:cNvPr id="10" name="Clean Slide Number"/>
          <p:cNvSpPr txBox="1"/>
          <p:nvPr/>
        </p:nvSpPr>
        <p:spPr>
          <a:xfrm>
            <a:off x="11064240" y="64739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5E6E87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62366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4"/>
                </a:solidFill>
                <a:latin typeface="Aptos Display"/>
              </a:defRPr>
            </a:pPr>
            <a:r>
              <a:rPr dirty="0"/>
              <a:t>1</a:t>
            </a:r>
            <a:r>
              <a:rPr lang="en-IN" dirty="0"/>
              <a:t>4</a:t>
            </a:r>
            <a:r>
              <a:rPr dirty="0"/>
              <a:t>. Final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  <a:latin typeface="Aptos"/>
              </a:defRPr>
            </a:pPr>
            <a:r>
              <a:t>Project outcome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64008" cy="11430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444751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✓ 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74519"/>
            <a:ext cx="469087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15 GB additional disk integrated into LVM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28016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59" y="1280160"/>
            <a:ext cx="64008" cy="11430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7" y="1444751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✓ 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7" y="1874519"/>
            <a:ext cx="469087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ACL-based departmental access implemented and tested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64008" cy="11430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907792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✓  Backup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337560"/>
            <a:ext cx="469087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Full and incremental backups created and verified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74320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59" y="2743200"/>
            <a:ext cx="64008" cy="11430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7" y="2907792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✓ 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7" y="3337560"/>
            <a:ext cx="469087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Deleted test data restored successfully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206240"/>
            <a:ext cx="64008" cy="11430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370831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✓ 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800600"/>
            <a:ext cx="469087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Bash backup script created and tested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420624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59" y="4206240"/>
            <a:ext cx="64008" cy="11430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7" y="4370831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✓  Scalability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7" y="4800600"/>
            <a:ext cx="469087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HR logical volume extended by 1 GB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lean Slide Number"/>
          <p:cNvSpPr txBox="1"/>
          <p:nvPr/>
        </p:nvSpPr>
        <p:spPr>
          <a:xfrm>
            <a:off x="11064240" y="64739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5E6E87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39360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1</a:t>
            </a:r>
            <a:r>
              <a:rPr lang="en-IN" dirty="0"/>
              <a:t>5</a:t>
            </a:r>
            <a:r>
              <a:rPr dirty="0"/>
              <a:t>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A practical enterprise-style Linux storage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/>
              <a:t>Ubuntu was configured as a structured departmental storage server.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/>
              <a:t>LVM provided flexible storage management for HR, IT and Finance.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/>
              <a:t>ACLs provided controlled access to departmental data.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/>
              <a:t>Backup, recovery and automation improved data protection and operational reliability.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/>
              <a:t>LVM expansion demonstrated that the infrastructure can grow with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0749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9DB4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235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3D2E1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5A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lean Slide Number"/>
          <p:cNvSpPr txBox="1"/>
          <p:nvPr/>
        </p:nvSpPr>
        <p:spPr>
          <a:xfrm>
            <a:off x="11064240" y="64739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5E6E87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1365</Words>
  <Application>Microsoft Office PowerPoint</Application>
  <PresentationFormat>Widescreen</PresentationFormat>
  <Paragraphs>229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Punith appu</dc:creator>
  <cp:keywords/>
  <dc:description>generated using python-pptx</dc:description>
  <cp:lastModifiedBy>Punith appu</cp:lastModifiedBy>
  <cp:revision>3</cp:revision>
  <dcterms:created xsi:type="dcterms:W3CDTF">2013-01-27T09:14:16Z</dcterms:created>
  <dcterms:modified xsi:type="dcterms:W3CDTF">2026-10-14T16:51:14Z</dcterms:modified>
  <cp:category/>
</cp:coreProperties>
</file>